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0195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6D8E8"/>
                </a:solidFill>
                <a:latin typeface="Aptos"/>
              </a:rPr>
              <a:t>Six Customer Opportunities | Current State → Future State → Vendor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136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108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Aamal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971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3136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ABK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971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3136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108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KFAS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51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KIA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14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4279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251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DHAMAN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14800"/>
            <a:ext cx="3246120" cy="804672"/>
          </a:xfrm>
          <a:prstGeom prst="roundRect">
            <a:avLst/>
          </a:prstGeom>
          <a:solidFill>
            <a:srgbClr val="1C395B"/>
          </a:solidFill>
          <a:ln>
            <a:solidFill>
              <a:srgbClr val="395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279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B7DF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2519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722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C8DB"/>
                </a:solidFill>
                <a:latin typeface="Aptos"/>
              </a:rPr>
              <a:t>Management / Vendor Alignment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AAMAL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Oracle EBS 12.1.3 on Oracle Database 19c / Oracle Linux 8.9.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GL, AP, AR, Fixed Assets and Purchasing; ~100 financial users.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Production, Test and Development environments; no DR.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Main concern: supportability, security/compliance and rising maintenance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Upgrade the existing EBS estate to 12.2.15 while retaining Database 19c.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Adopt online patching (ADOP), current security updates and improved supportability.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Immediate objective is modernization—not Fusion migration or business-process redesign.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Future Oracle Fusion, DR and planning/analytics roadmap can be assessed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Immediate priority: stabilize and modernize the existing EBS platform to 12.2.15, while keeping the longer-term transformation roadmap separate.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AAMAL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Technical EBS 12.1.3 → 12.2.15 upgrade.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Development upgrade, SIT, UAT, production cutover and hypercare.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Testing, documentation, knowledge transfer and go-live support.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DR implementation, Fusion migration, new modules and infrastructure refresh are outside current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Validate the complete AS-IS footprint and target architecture.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upgrade assumptions, dependencies, timeline and responsibilities.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Explain business value beyond the technical version upgrade.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Recommend the long-term Oracle roadmap without expanding the immediate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Recommended baseline: ~7 months implementation + ~2 months hypercare.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Confirm future DR, Fusion migration path and planning/analytics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ABK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Finacle remains the core banking platform.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Infosys Digital Banking and IBM App Connect are part of the current landscape.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Corporate and SME transaction-banking services already exist.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Challenges include fragmented experience, limited self-service, API demand and advanced liquidity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Introduce a unified Oracle transaction-banking layer while retaining Finacle.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Target omnichannel access: Web, Mobile, API and Host-to-Host.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Expand payments, trade finance, virtual accounts, liquidity management and analytics/AI.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Target flow: Customers → Oracle digital/channel layer → APIs/routing → IBM App Connect → Finacle.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This is an end-to-end transaction-banking transformation around—not replacement of—the Finacle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ABK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Phase 1 / Phase 2 transaction-banking requirements.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Digital channels, APIs/H2H, payments, trade finance and virtual accounts.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Liquidity-management capabilities and integration through the existing middleware/core landscape.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Commercial and support assumptions must align with functional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Validate requirement-by-requirement Oracle coverage.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the target architecture and integration responsibility boundaries.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Clearly identify standard capability, configuration, additional modules and gaps.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commercial assumptions and support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Key clarification areas: Liquidity Management, MT101, Charging Module and Support Model.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Avoid assuming 'strong coverage' means every requirement is native.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KFAS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Recruitment is largely manual, with email-based approvals and coordination.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Interview scheduling is manual and reporting is limited.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No integrated talent-acquisition platform is currently identified.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Centralized cloud recruitment platform with automated workflows.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Candidate portal, talent pools, screening, interviews, assessments and offers.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Pre-boarding plus recruitment analytics and reporting.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Integrations with job boards, calendar, e-signature, document management and future HRMS/HCM.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The objective is to digitize the complete recruitment lifecycle, not merely replace manual applicant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KFAS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Requisitions and approvals through job posting and candidate management.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Screening, interview/assessment management, offers and pre-boarding.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Recruitment reporting and analytics.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External integrations and future HRMS/HCM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Validate solution fit against the complete RFP scope.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Separate standard functionality from configuration/customization.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Identify gaps, dependencies, assumptions, risks and implementation approach.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Recommend the target solution architecture and integration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Confirm entities/population, grading, job-board subscriptions, offer rules, calendar and e-signature provider.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Do not finalize design until these assumptions are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KIA – PROJECT EPSILON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Sovereign debt schedules and calculations are heavily Excel-based.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Debt records/reporting are fragmented with limited automation and auditability.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Approx. 100 debt instruments and ~10 monthly debt transactions.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KIA acts for the State of Kuwait in sovereign borrowing.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Central Sovereign Debt Management System as a single source of truth.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Manage issuance, drawdowns, refinancing, restructuring, maturities and servicing.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Automate interest/profit calculations, accruals, workflows, maker-checker and audit trail.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Provide forecasting, analytics, reporting and ERP/accounting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Treat Project Epsilon as a Sovereign Debt Management initiative—not as a full treasury transformation.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KIA – PROJECT EPSILON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Conventional debt: Bonds, Notes, Bilateral and Syndicated Loans.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Islamic structures: Sukuk, Murabaha, Tawarruq and Ijara.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Debt servicing, cash-flow forecasting, analytics, reporting and ERP integration.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Out of scope: trading, investments, cash management, SWIFT, hedging and derivatives.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native sovereign-debt lifecycle capabilities.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Demonstrate native support for Islamic finance structures.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Identify gaps/customization rather than forcing treasury features into scope.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KIA-controlled deployment, implementation approach, timeline and relevant references.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Critical fit test: Islamic finance + sovereign debt servicing + governance/auditability.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Keep out-of-scope treasury functions explicitly excluded.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DHAMAN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Oracle Fusion HCM is the master HR platform.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Oracle Taleo currently supports recruitment, candidates, interviews and offers.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Fusion HCM and Taleo operate as integrated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Replace Taleo with Oracle Recruiting Cloud (ORC).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Retain Fusion HCM for Core HR, positions, organizations and employees.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Use ORC for requisitions, candidates, interviews, offers and hiring.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Integrate recruitment/onboarding and reporting with the existing Fusion HCM landscape.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The core objective is a controlled Taleo-to-ORC modernization while preserving Fusion HCM as the HR system of 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DHAMAN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Migration from Taleo to ORC and recruitment lifecycle management.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Candidate sourcing/tracking, interviews, offers and hiring.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Onboarding integration, reporting/analytics and Fusion HCM integration.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Data migration scope must be explicitly 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Validate ORC functional fit and migration approach.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licensing and any additional Oracle products required.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Clarify data conversion, integration and healthcare-specific workflow needs.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Separate core recruitment scope from workforce-planning/forecasting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Clarify Workforce Planning &amp; Forecasting and budget validation.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Confirm Taleo historical-data migration depth and additional licensing.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UBC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Executive Opportunity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CURRENT / AS-IS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3268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FUTURE / TO-BE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Oracle EBS is the core transactional platform and holds operational/historical data.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Planning and forecasting depend heavily on spreadsheets and manual processes.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Budget consolidation is time-consuming; reporting is fragmented.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Scenario analysis and executive visibility are limited.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Centralized Oracle EPM Planning environment integrated with EBS.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Bring revenue, sales and financial planning into one planning platform.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Enable rolling forecasts, driver-based planning and what-if simulation.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Deliver executive dashboards, KPI monitoring and a single planning version of truth.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5010912"/>
            <a:ext cx="11128248" cy="914400"/>
          </a:xfrm>
          <a:prstGeom prst="round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120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C6E7"/>
                </a:solidFill>
                <a:latin typeface="Aptos"/>
              </a:rPr>
              <a:t>EXECUTIVE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3892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Position Oracle EPM as the preferred planning transformation platform, leveraging EBS as the transactional source.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643"/>
          </a:solidFill>
          <a:ln>
            <a:solidFill>
              <a:srgbClr val="102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UBC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64592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5E1EE"/>
                </a:solidFill>
                <a:latin typeface="Aptos"/>
              </a:rPr>
              <a:t>Scope &amp; Vendor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3152" y="6345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02643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68A4"/>
                </a:solidFill>
                <a:latin typeface="Aptos"/>
              </a:rPr>
              <a:t>SCOPE / SOLUTION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53492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Primary focus: budgeting, forecasting, revenue/sales planning and performance management.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Strategic planning, scenario modeling, KPI reporting and executive dashboards.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Integration with Oracle EBS for actuals, master data and historical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Supply/inventory/statistical forecasting requirements require separate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94183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847D"/>
                </a:solidFill>
                <a:latin typeface="Aptos"/>
              </a:rPr>
              <a:t>KEY MESSAGE TO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349240" cy="2487168"/>
          </a:xfrm>
          <a:prstGeom prst="roundRect">
            <a:avLst/>
          </a:prstGeom>
          <a:solidFill>
            <a:srgbClr val="F4F7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Confirm Oracle EPM coverage against the discovered business requirements.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Recommend EPM modules, architecture and EBS integration approach.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Identify true gaps and any complementary Oracle solutions only where required.</a:t>
            </a:r>
          </a:p>
          <a:p>
            <a:pPr>
              <a:spcAft>
                <a:spcPts val="700"/>
              </a:spcAft>
              <a:defRPr sz="1500">
                <a:solidFill>
                  <a:srgbClr val="242B33"/>
                </a:solidFill>
                <a:latin typeface="Aptos"/>
              </a:defRPr>
            </a:pPr>
            <a:r>
              <a:t>• Keep the assessment centered on planning/reporting value rather than defaulting to Demand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050791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17E1F"/>
                </a:solidFill>
                <a:latin typeface="Aptos"/>
              </a:rPr>
              <a:t>CONFIRM / 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349240" cy="1417320"/>
          </a:xfrm>
          <a:prstGeom prst="roundRect">
            <a:avLst/>
          </a:prstGeom>
          <a:solidFill>
            <a:srgbClr val="FFF9EE"/>
          </a:solidFill>
          <a:ln>
            <a:solidFill>
              <a:srgbClr val="EBD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645152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EPM is a strong fit for budgeting/forecasting/revenue planning/reporting.</a:t>
            </a:r>
          </a:p>
          <a:p>
            <a:pPr>
              <a:spcAft>
                <a:spcPts val="700"/>
              </a:spcAft>
              <a:defRPr sz="1400">
                <a:solidFill>
                  <a:srgbClr val="242B33"/>
                </a:solidFill>
                <a:latin typeface="Aptos"/>
              </a:defRPr>
            </a:pPr>
            <a:r>
              <a:t>• Vendor must validate statistical forecasting, supply planning and inventory-planning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